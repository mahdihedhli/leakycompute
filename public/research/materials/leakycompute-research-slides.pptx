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0efdbdccd24be6" /><Relationship Type="http://schemas.openxmlformats.org/officeDocument/2006/relationships/extended-properties" Target="/docProps/app.xml" Id="R191053d182184d44" /><Relationship Type="http://schemas.openxmlformats.org/officeDocument/2006/relationships/officeDocument" Target="/ppt/presentation.xml" Id="Rdb24dfe3ba52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0e0daf39af40cf"/>
  </p:sldMasterIdLst>
  <p:notesMasterIdLst>
    <p:notesMasterId xmlns:r="http://schemas.openxmlformats.org/officeDocument/2006/relationships" r:id="R4e22eca999ff49da"/>
  </p:notesMasterIdLst>
  <p:sldIdLst>
    <p:sldId xmlns:r="http://schemas.openxmlformats.org/officeDocument/2006/relationships" id="256" r:id="R58e933265ee14a04"/>
    <p:sldId xmlns:r="http://schemas.openxmlformats.org/officeDocument/2006/relationships" id="257" r:id="R5b9d13fe9f0c49d9"/>
    <p:sldId xmlns:r="http://schemas.openxmlformats.org/officeDocument/2006/relationships" id="258" r:id="Rf243746f2c8c4f51"/>
    <p:sldId xmlns:r="http://schemas.openxmlformats.org/officeDocument/2006/relationships" id="259" r:id="Rf137ef6bdb3d4fdf"/>
    <p:sldId xmlns:r="http://schemas.openxmlformats.org/officeDocument/2006/relationships" id="260" r:id="R485a33459e82436c"/>
    <p:sldId xmlns:r="http://schemas.openxmlformats.org/officeDocument/2006/relationships" id="261" r:id="Rabdd0c0bcff64be8"/>
    <p:sldId xmlns:r="http://schemas.openxmlformats.org/officeDocument/2006/relationships" id="262" r:id="R0deaa2d2fc7543ab"/>
    <p:sldId xmlns:r="http://schemas.openxmlformats.org/officeDocument/2006/relationships" id="263" r:id="R82522ae1c82d45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4ceb48625d41b6" /><Relationship Type="http://schemas.openxmlformats.org/officeDocument/2006/relationships/slideMaster" Target="/ppt/slideMasters/slideMaster1.xml" Id="R7c0e0daf39af40cf" /><Relationship Type="http://schemas.openxmlformats.org/officeDocument/2006/relationships/notesMaster" Target="/ppt/notesMasters/notesMaster1.xml" Id="R4e22eca999ff49da" /><Relationship Type="http://schemas.openxmlformats.org/officeDocument/2006/relationships/presProps" Target="/ppt/presProps.xml" Id="R875a365ef59c45d7" /><Relationship Type="http://schemas.openxmlformats.org/officeDocument/2006/relationships/tableStyles" Target="/ppt/tableStyles.xml" Id="R55a4f873eda94e17" /><Relationship Type="http://schemas.openxmlformats.org/officeDocument/2006/relationships/slide" Target="/ppt/slides/slide1.xml" Id="R58e933265ee14a04" /><Relationship Type="http://schemas.openxmlformats.org/officeDocument/2006/relationships/slide" Target="/ppt/slides/slide2.xml" Id="R5b9d13fe9f0c49d9" /><Relationship Type="http://schemas.openxmlformats.org/officeDocument/2006/relationships/slide" Target="/ppt/slides/slide3.xml" Id="Rf243746f2c8c4f51" /><Relationship Type="http://schemas.openxmlformats.org/officeDocument/2006/relationships/slide" Target="/ppt/slides/slide4.xml" Id="Rf137ef6bdb3d4fdf" /><Relationship Type="http://schemas.openxmlformats.org/officeDocument/2006/relationships/slide" Target="/ppt/slides/slide5.xml" Id="R485a33459e82436c" /><Relationship Type="http://schemas.openxmlformats.org/officeDocument/2006/relationships/slide" Target="/ppt/slides/slide6.xml" Id="Rabdd0c0bcff64be8" /><Relationship Type="http://schemas.openxmlformats.org/officeDocument/2006/relationships/slide" Target="/ppt/slides/slide7.xml" Id="R0deaa2d2fc7543ab" /><Relationship Type="http://schemas.openxmlformats.org/officeDocument/2006/relationships/slide" Target="/ppt/slides/slide8.xml" Id="R82522ae1c82d45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4d1819d48146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6574e08fa0403d" /><Relationship Type="http://schemas.openxmlformats.org/officeDocument/2006/relationships/notesMaster" Target="/ppt/notesMasters/notesMaster1.xml" Id="Rc5247c38845a46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895fa12e524a3f" /><Relationship Type="http://schemas.openxmlformats.org/officeDocument/2006/relationships/notesMaster" Target="/ppt/notesMasters/notesMaster1.xml" Id="R6d6381600c5e40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fddcac13fa41c8" /><Relationship Type="http://schemas.openxmlformats.org/officeDocument/2006/relationships/notesMaster" Target="/ppt/notesMasters/notesMaster1.xml" Id="Rce3ad7ec3d9946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eaf79ca8224219" /><Relationship Type="http://schemas.openxmlformats.org/officeDocument/2006/relationships/notesMaster" Target="/ppt/notesMasters/notesMaster1.xml" Id="R04fd3ad8aaa94d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1a3166ea854af1" /><Relationship Type="http://schemas.openxmlformats.org/officeDocument/2006/relationships/notesMaster" Target="/ppt/notesMasters/notesMaster1.xml" Id="R7a3de8944af040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04d1b6bc394289" /><Relationship Type="http://schemas.openxmlformats.org/officeDocument/2006/relationships/notesMaster" Target="/ppt/notesMasters/notesMaster1.xml" Id="R568f390ed7714e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5cab23589b4466" /><Relationship Type="http://schemas.openxmlformats.org/officeDocument/2006/relationships/notesMaster" Target="/ppt/notesMasters/notesMaster1.xml" Id="Ra8122048f1ee42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07833c3514d22" /><Relationship Type="http://schemas.openxmlformats.org/officeDocument/2006/relationships/notesMaster" Target="/ppt/notesMasters/notesMaster1.xml" Id="R91e303dff73c4d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problem: the count is only useful if the measurement method and safety boundary are visible too.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https://github.com/MahdiHedhli/LeakyCompute</a:t>
            </a:r>
          </a:p>
          <a:p xmlns:a="http://schemas.openxmlformats.org/drawingml/2006/main">
            <a:r>
              <a:t>https://github.com/MahdiHedhli/LeakyCompute/blob/main/docs/research.md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add these values. The archive, index, and retained verification corpus have different sources, timestamps, and inclusion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https://api.leakycompute.mahdihedhli.com/v1/stats</a:t>
            </a:r>
          </a:p>
          <a:p xmlns:a="http://schemas.openxmlformats.org/drawingml/2006/main">
            <a:r>
              <a:t>https://github.com/MahdiHedhli/LeakyCompute/blob/main/docs/SECURITY.md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Discovery and verification are separate. A public index can nominate a candidate, but LeakyCompute must not discover by walking address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https://github.com/MahdiHedhli/LeakyCompute/blob/main/docs/SECURITY.md</a:t>
            </a:r>
          </a:p>
          <a:p xmlns:a="http://schemas.openxmlformats.org/drawingml/2006/main">
            <a:r>
              <a:t>https://leakycompute.mahdihedhli.com/scanning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review found identity and route-confusion bugs precisely where these boundaries met. The production design now verifies the exact signed email and uses an explicit bridge route inventory.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https://github.com/MahdiHedhli/LeakyCompute/blob/main/docs/SECURITY_REVIEW_2026-08-25.md</a:t>
            </a:r>
          </a:p>
          <a:p xmlns:a="http://schemas.openxmlformats.org/drawingml/2006/main">
            <a:r>
              <a:t>https://github.com/MahdiHedhli/LeakyCompute/blob/main/docs/API.md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host and stack pairs, not a distinct-host total. The project did not submit jobs, run notebooks, pull models, or send prompts to third-party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https://api.leakycompute.mahdihedhli.com/v1/stats</a:t>
            </a:r>
          </a:p>
          <a:p xmlns:a="http://schemas.openxmlformats.org/drawingml/2006/main">
            <a:r>
              <a:t>https://github.com/MahdiHedhli/LeakyCompute/blob/main/docs/SECURITY.md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review as falsification, not a checklist. The full write-up records twenty concrete findings and their containment or remediation.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https://github.com/MahdiHedhli/LeakyCompute/blob/main/docs/SECURITY_REVIEW_2026-08-25.md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Deletion cannot revoke copies that were already downloaded or cached. State that limitation plainly. Active discovery remains suspended until the pre-probe ledger and corpus-scale controls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https://github.com/MahdiHedhli/LeakyCompute/blob/main/docs/SECURITY_REVIEW_2026-08-25.md</a:t>
            </a:r>
          </a:p>
          <a:p xmlns:a="http://schemas.openxmlformats.org/drawingml/2006/main">
            <a:r>
              <a:t>https://github.com/MahdiHedhli/LeakyCompute/blob/main/docs/ROADMAP.md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scope. The project still supports passive research, approved corpus access, and local checks on infrastructure the operator controls. It does not claim readiness for unattended active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https://leakycompute.mahdihedhli.com/</a:t>
            </a:r>
          </a:p>
          <a:p xmlns:a="http://schemas.openxmlformats.org/drawingml/2006/main">
            <a:r>
              <a:t>https://leakycompute.mahdihedhli.com/scanning</a:t>
            </a:r>
          </a:p>
          <a:p xmlns:a="http://schemas.openxmlformats.org/drawingml/2006/main">
            <a:r>
              <a:t>https://github.com/MahdiHedhli/LeakyCompute/blob/main/docs/ROADMAP.md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aeec3e16d41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ccef2002b14786" /><Relationship Type="http://schemas.openxmlformats.org/officeDocument/2006/relationships/slideLayout" Target="/ppt/slideLayouts/slideLayout1.xml" Id="R95b3ecfe0d95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3ecfe0d95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79772f7cf4314" /><Relationship Type="http://schemas.openxmlformats.org/officeDocument/2006/relationships/notesSlide" Target="/ppt/notesSlides/notesSlide1.xml" Id="R551071c915cc42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83ef38803493c" /><Relationship Type="http://schemas.openxmlformats.org/officeDocument/2006/relationships/notesSlide" Target="/ppt/notesSlides/notesSlide2.xml" Id="Reca4a13ae85740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fdd2467c94925" /><Relationship Type="http://schemas.openxmlformats.org/officeDocument/2006/relationships/notesSlide" Target="/ppt/notesSlides/notesSlide3.xml" Id="Re7379f3d0ffb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538ebc4ba402e" /><Relationship Type="http://schemas.openxmlformats.org/officeDocument/2006/relationships/notesSlide" Target="/ppt/notesSlides/notesSlide4.xml" Id="Rb7014037a3824b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6359cf69b41c6" /><Relationship Type="http://schemas.openxmlformats.org/officeDocument/2006/relationships/notesSlide" Target="/ppt/notesSlides/notesSlide5.xml" Id="R55b84af20c7e43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4da94368c48d3" /><Relationship Type="http://schemas.openxmlformats.org/officeDocument/2006/relationships/notesSlide" Target="/ppt/notesSlides/notesSlide6.xml" Id="R495d4bb1e3704f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8db7fc8634653" /><Relationship Type="http://schemas.openxmlformats.org/officeDocument/2006/relationships/notesSlide" Target="/ppt/notesSlides/notesSlide7.xml" Id="R564a05d7e75d43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c174f6dcc4ed6" /><Relationship Type="http://schemas.openxmlformats.org/officeDocument/2006/relationships/notesSlide" Target="/ppt/notesSlides/notesSlide8.xml" Id="R760c104d6e3a46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line-1">
            <a:extLst xmlns:a="http://schemas.openxmlformats.org/drawingml/2006/main">
              <a:ext uri="{FF2B5EF4-FFF2-40B4-BE49-F238E27FC236}">
                <a16:creationId xmlns:a16="http://schemas.microsoft.com/office/drawing/2014/main" id="{89E2DD0C-8EBD-40D6-B895-CFC0CD8A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1">
            <a:extLst xmlns:a="http://schemas.openxmlformats.org/drawingml/2006/main">
              <a:ext uri="{FF2B5EF4-FFF2-40B4-BE49-F238E27FC236}">
                <a16:creationId xmlns:a16="http://schemas.microsoft.com/office/drawing/2014/main" id="{07749AA1-3666-42F6-B090-300AC57D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LEAKY COMPUTE</a:t>
            </a:r>
          </a:p>
        </p:txBody>
      </p:sp>
      <p:sp>
        <p:nvSpPr>
          <p:cNvPr id="3" name="section-1">
            <a:extLst xmlns:a="http://schemas.openxmlformats.org/drawingml/2006/main">
              <a:ext uri="{FF2B5EF4-FFF2-40B4-BE49-F238E27FC236}">
                <a16:creationId xmlns:a16="http://schemas.microsoft.com/office/drawing/2014/main" id="{0BD8B407-7C7E-49BC-B2FD-D95E764E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RESEARCH NOTE</a:t>
            </a:r>
          </a:p>
        </p:txBody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4282FB9E-E99E-41D4-BBAD-A554ADB5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DON'T PANIC // 01</a:t>
            </a:r>
          </a:p>
        </p:txBody>
      </p:sp>
      <p:sp>
        <p:nvSpPr>
          <p:cNvPr id="5" name="opening-kicker">
            <a:extLst xmlns:a="http://schemas.openxmlformats.org/drawingml/2006/main">
              <a:ext uri="{FF2B5EF4-FFF2-40B4-BE49-F238E27FC236}">
                <a16:creationId xmlns:a16="http://schemas.microsoft.com/office/drawing/2014/main" id="{E1DC727E-F926-47DC-8860-E4717BE5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MEASUREMENT // RESTRAINT // ADVERSARIAL REVIEW</a:t>
            </a:r>
          </a:p>
        </p:txBody>
      </p:sp>
      <p:sp>
        <p:nvSpPr>
          <p:cNvPr id="6" name="opening-title">
            <a:extLst xmlns:a="http://schemas.openxmlformats.org/drawingml/2006/main">
              <a:ext uri="{FF2B5EF4-FFF2-40B4-BE49-F238E27FC236}">
                <a16:creationId xmlns:a16="http://schemas.microsoft.com/office/drawing/2014/main" id="{B75A56CA-B498-47E5-B29C-4592E704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80962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51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Measuring exposed AI</a:t>
            </a:r>
          </a:p>
          <a:p xmlns:a="http://schemas.openxmlformats.org/drawingml/2006/main">
            <a:pPr>
              <a:defRPr sz="51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51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without becoming the threat</a:t>
            </a:r>
          </a:p>
        </p:txBody>
      </p:sp>
      <p:sp>
        <p:nvSpPr>
          <p:cNvPr id="7" name="opening-subtitle">
            <a:extLst xmlns:a="http://schemas.openxmlformats.org/drawingml/2006/main">
              <a:ext uri="{FF2B5EF4-FFF2-40B4-BE49-F238E27FC236}">
                <a16:creationId xmlns:a16="http://schemas.microsoft.com/office/drawing/2014/main" id="{DAEE7005-DC4C-4F0B-B6D3-9A75F526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How LeakyCompute separates evidence, limits its claims, and used Daybreak Blue to red team its own safety boundary.</a:t>
            </a:r>
          </a:p>
        </p:txBody>
      </p:sp>
      <p:sp>
        <p:nvSpPr>
          <p:cNvPr id="8" name="opening-chip">
            <a:extLst xmlns:a="http://schemas.openxmlformats.org/drawingml/2006/main">
              <a:ext uri="{FF2B5EF4-FFF2-40B4-BE49-F238E27FC236}">
                <a16:creationId xmlns:a16="http://schemas.microsoft.com/office/drawing/2014/main" id="{A164D94F-9C51-4DEA-A306-B5B7D52E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2476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9" name="opening-chip-text">
            <a:extLst xmlns:a="http://schemas.openxmlformats.org/drawingml/2006/main">
              <a:ext uri="{FF2B5EF4-FFF2-40B4-BE49-F238E27FC236}">
                <a16:creationId xmlns:a16="http://schemas.microsoft.com/office/drawing/2014/main" id="{199D3D07-3150-43CA-9F94-7BAFAAAF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52650"/>
            <a:ext cx="1828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ACTIVE</a:t>
            </a:r>
          </a:p>
          <a:p xmlns:a="http://schemas.openxmlformats.org/drawingml/2006/main">
            <a:pPr algn="ctr">
              <a:defRPr sz="255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PROBING</a:t>
            </a:r>
          </a:p>
          <a:p xmlns:a="http://schemas.openxmlformats.org/drawingml/2006/main">
            <a:pPr algn="ctr">
              <a:defRPr sz="255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PAUSED</a:t>
            </a:r>
          </a:p>
        </p:txBody>
      </p:sp>
      <p:sp>
        <p:nvSpPr>
          <p:cNvPr id="10" name="opening-author">
            <a:extLst xmlns:a="http://schemas.openxmlformats.org/drawingml/2006/main">
              <a:ext uri="{FF2B5EF4-FFF2-40B4-BE49-F238E27FC236}">
                <a16:creationId xmlns:a16="http://schemas.microsoft.com/office/drawing/2014/main" id="{96AC0589-8E33-4B11-BBA6-C75C594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Mahdi Hedhli // 26 August 2026</a:t>
            </a:r>
          </a:p>
        </p:txBody>
      </p:sp>
    </p:spTree>
    <p:extLst>
      <p:ext uri="{BB962C8B-B14F-4D97-AF65-F5344CB8AC3E}">
        <p14:creationId xmlns:p14="http://schemas.microsoft.com/office/powerpoint/2010/main" val="249664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line-2">
            <a:extLst xmlns:a="http://schemas.openxmlformats.org/drawingml/2006/main">
              <a:ext uri="{FF2B5EF4-FFF2-40B4-BE49-F238E27FC236}">
                <a16:creationId xmlns:a16="http://schemas.microsoft.com/office/drawing/2014/main" id="{D5531463-919B-4C4A-A85C-E31A4656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2">
            <a:extLst xmlns:a="http://schemas.openxmlformats.org/drawingml/2006/main">
              <a:ext uri="{FF2B5EF4-FFF2-40B4-BE49-F238E27FC236}">
                <a16:creationId xmlns:a16="http://schemas.microsoft.com/office/drawing/2014/main" id="{2D948E13-FB30-4547-98F3-7ED00359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LEAKY COMPUTE</a:t>
            </a:r>
          </a:p>
        </p:txBody>
      </p:sp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72AD45BB-7600-4200-ADF6-6A995BD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MEASUREMENT</a:t>
            </a:r>
          </a:p>
        </p:txBody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E7B571F7-1047-41AB-BE2E-4007A305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DON'T PANIC // 02</a:t>
            </a:r>
          </a:p>
        </p:txBody>
      </p:sp>
      <p:sp>
        <p:nvSpPr>
          <p:cNvPr id="5" name="measure-title">
            <a:extLst xmlns:a="http://schemas.openxmlformats.org/drawingml/2006/main">
              <a:ext uri="{FF2B5EF4-FFF2-40B4-BE49-F238E27FC236}">
                <a16:creationId xmlns:a16="http://schemas.microsoft.com/office/drawing/2014/main" id="{21739A47-9531-4DDA-A723-1295893D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Three measurements, never summed</a:t>
            </a:r>
          </a:p>
        </p:txBody>
      </p:sp>
      <p:sp>
        <p:nvSpPr>
          <p:cNvPr id="6" name="measure-subtitle">
            <a:extLst xmlns:a="http://schemas.openxmlformats.org/drawingml/2006/main">
              <a:ext uri="{FF2B5EF4-FFF2-40B4-BE49-F238E27FC236}">
                <a16:creationId xmlns:a16="http://schemas.microsoft.com/office/drawing/2014/main" id="{1548B40C-6691-4E83-ACF3-E5DEE8DE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Each number answers a different question and carries a different confidence level.</a:t>
            </a:r>
          </a:p>
        </p:txBody>
      </p:sp>
      <p:sp>
        <p:nvSpPr>
          <p:cNvPr id="7" name="archive-panel">
            <a:extLst xmlns:a="http://schemas.openxmlformats.org/drawingml/2006/main">
              <a:ext uri="{FF2B5EF4-FFF2-40B4-BE49-F238E27FC236}">
                <a16:creationId xmlns:a16="http://schemas.microsoft.com/office/drawing/2014/main" id="{61241A63-9F68-4F9D-B38D-D86F3BF0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3375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8" name="archive-accent">
            <a:extLst xmlns:a="http://schemas.openxmlformats.org/drawingml/2006/main">
              <a:ext uri="{FF2B5EF4-FFF2-40B4-BE49-F238E27FC236}">
                <a16:creationId xmlns:a16="http://schemas.microsoft.com/office/drawing/2014/main" id="{26F5C7A3-A4FE-4C24-8237-210DD501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ive-value">
            <a:extLst xmlns:a="http://schemas.openxmlformats.org/drawingml/2006/main">
              <a:ext uri="{FF2B5EF4-FFF2-40B4-BE49-F238E27FC236}">
                <a16:creationId xmlns:a16="http://schemas.microsoft.com/office/drawing/2014/main" id="{BF11B693-4F8C-4A1E-BA2A-0EBCBEE9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36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19,348</a:t>
            </a:r>
          </a:p>
        </p:txBody>
      </p:sp>
      <p:sp>
        <p:nvSpPr>
          <p:cNvPr id="10" name="archive-label">
            <a:extLst xmlns:a="http://schemas.openxmlformats.org/drawingml/2006/main">
              <a:ext uri="{FF2B5EF4-FFF2-40B4-BE49-F238E27FC236}">
                <a16:creationId xmlns:a16="http://schemas.microsoft.com/office/drawing/2014/main" id="{8BA0775B-4386-442E-B30F-1863DE33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archive listings</a:t>
            </a:r>
          </a:p>
        </p:txBody>
      </p:sp>
      <p:sp>
        <p:nvSpPr>
          <p:cNvPr id="11" name="archive-note">
            <a:extLst xmlns:a="http://schemas.openxmlformats.org/drawingml/2006/main">
              <a:ext uri="{FF2B5EF4-FFF2-40B4-BE49-F238E27FC236}">
                <a16:creationId xmlns:a16="http://schemas.microsoft.com/office/drawing/2014/main" id="{68D0FBB7-566B-4E85-9AF5-4FA9CC7A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Captured 27 July 2026. Historical and not reverified.</a:t>
            </a:r>
          </a:p>
        </p:txBody>
      </p:sp>
      <p:sp>
        <p:nvSpPr>
          <p:cNvPr id="12" name="indexed-panel">
            <a:extLst xmlns:a="http://schemas.openxmlformats.org/drawingml/2006/main">
              <a:ext uri="{FF2B5EF4-FFF2-40B4-BE49-F238E27FC236}">
                <a16:creationId xmlns:a16="http://schemas.microsoft.com/office/drawing/2014/main" id="{0DC40395-32EB-435A-8C75-E1380E62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13" name="indexed-accent">
            <a:extLst xmlns:a="http://schemas.openxmlformats.org/drawingml/2006/main">
              <a:ext uri="{FF2B5EF4-FFF2-40B4-BE49-F238E27FC236}">
                <a16:creationId xmlns:a16="http://schemas.microsoft.com/office/drawing/2014/main" id="{FDFC5678-1516-4169-BE6C-29D9F6D5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dexed-value">
            <a:extLst xmlns:a="http://schemas.openxmlformats.org/drawingml/2006/main">
              <a:ext uri="{FF2B5EF4-FFF2-40B4-BE49-F238E27FC236}">
                <a16:creationId xmlns:a16="http://schemas.microsoft.com/office/drawing/2014/main" id="{2BD8E473-D565-4235-B20C-6EBFF53E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3600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19,376</a:t>
            </a:r>
          </a:p>
        </p:txBody>
      </p:sp>
      <p:sp>
        <p:nvSpPr>
          <p:cNvPr id="15" name="indexed-label">
            <a:extLst xmlns:a="http://schemas.openxmlformats.org/drawingml/2006/main">
              <a:ext uri="{FF2B5EF4-FFF2-40B4-BE49-F238E27FC236}">
                <a16:creationId xmlns:a16="http://schemas.microsoft.com/office/drawing/2014/main" id="{4F52ABD2-6DE8-4946-89AC-930888D4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19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indexed records</a:t>
            </a:r>
          </a:p>
        </p:txBody>
      </p:sp>
      <p:sp>
        <p:nvSpPr>
          <p:cNvPr id="16" name="indexed-note">
            <a:extLst xmlns:a="http://schemas.openxmlformats.org/drawingml/2006/main">
              <a:ext uri="{FF2B5EF4-FFF2-40B4-BE49-F238E27FC236}">
                <a16:creationId xmlns:a16="http://schemas.microsoft.com/office/drawing/2014/main" id="{5B0C4726-EF3E-4663-B019-11B5817D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386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Public records as of 25 August. Counted, not probed.</a:t>
            </a:r>
          </a:p>
        </p:txBody>
      </p:sp>
      <p:sp>
        <p:nvSpPr>
          <p:cNvPr id="17" name="reverified-panel">
            <a:extLst xmlns:a="http://schemas.openxmlformats.org/drawingml/2006/main">
              <a:ext uri="{FF2B5EF4-FFF2-40B4-BE49-F238E27FC236}">
                <a16:creationId xmlns:a16="http://schemas.microsoft.com/office/drawing/2014/main" id="{392A8044-E095-4D0C-B3A7-13A2ECD1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33375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18" name="reverified-accent">
            <a:extLst xmlns:a="http://schemas.openxmlformats.org/drawingml/2006/main">
              <a:ext uri="{FF2B5EF4-FFF2-40B4-BE49-F238E27FC236}">
                <a16:creationId xmlns:a16="http://schemas.microsoft.com/office/drawing/2014/main" id="{E3D844D1-A823-4409-A3D4-3C901C6E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verified-value">
            <a:extLst xmlns:a="http://schemas.openxmlformats.org/drawingml/2006/main">
              <a:ext uri="{FF2B5EF4-FFF2-40B4-BE49-F238E27FC236}">
                <a16:creationId xmlns:a16="http://schemas.microsoft.com/office/drawing/2014/main" id="{DC7ED699-4A34-430D-AB8D-3506922D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3600" b="1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1,360</a:t>
            </a:r>
          </a:p>
        </p:txBody>
      </p:sp>
      <p:sp>
        <p:nvSpPr>
          <p:cNvPr id="20" name="reverified-label">
            <a:extLst xmlns:a="http://schemas.openxmlformats.org/drawingml/2006/main">
              <a:ext uri="{FF2B5EF4-FFF2-40B4-BE49-F238E27FC236}">
                <a16:creationId xmlns:a16="http://schemas.microsoft.com/office/drawing/2014/main" id="{FFADCFAB-E828-4B9F-9FB2-88AB3CB7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reverified hosts</a:t>
            </a:r>
          </a:p>
        </p:txBody>
      </p:sp>
      <p:sp>
        <p:nvSpPr>
          <p:cNvPr id="21" name="reverified-note">
            <a:extLst xmlns:a="http://schemas.openxmlformats.org/drawingml/2006/main">
              <a:ext uri="{FF2B5EF4-FFF2-40B4-BE49-F238E27FC236}">
                <a16:creationId xmlns:a16="http://schemas.microsoft.com/office/drawing/2014/main" id="{535F2ABE-0C99-4107-8973-1E11CC76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386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Retained read-only observations within 180 days.</a:t>
            </a:r>
          </a:p>
        </p:txBody>
      </p:sp>
      <p:sp>
        <p:nvSpPr>
          <p:cNvPr id="22" name="measure-foot">
            <a:extLst xmlns:a="http://schemas.openxmlformats.org/drawingml/2006/main">
              <a:ext uri="{FF2B5EF4-FFF2-40B4-BE49-F238E27FC236}">
                <a16:creationId xmlns:a16="http://schemas.microsoft.com/office/drawing/2014/main" id="{07DE7342-4E33-46BA-9832-3F8F7306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Current index coverage is entirely Shodan-derived. Source bias and blind spots are part of the result.</a:t>
            </a:r>
          </a:p>
        </p:txBody>
      </p:sp>
    </p:spTree>
    <p:extLst>
      <p:ext uri="{BB962C8B-B14F-4D97-AF65-F5344CB8AC3E}">
        <p14:creationId xmlns:p14="http://schemas.microsoft.com/office/powerpoint/2010/main" val="363976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line-3">
            <a:extLst xmlns:a="http://schemas.openxmlformats.org/drawingml/2006/main">
              <a:ext uri="{FF2B5EF4-FFF2-40B4-BE49-F238E27FC236}">
                <a16:creationId xmlns:a16="http://schemas.microsoft.com/office/drawing/2014/main" id="{1D0850DA-38E9-4E5B-890A-F39F3A27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3">
            <a:extLst xmlns:a="http://schemas.openxmlformats.org/drawingml/2006/main">
              <a:ext uri="{FF2B5EF4-FFF2-40B4-BE49-F238E27FC236}">
                <a16:creationId xmlns:a16="http://schemas.microsoft.com/office/drawing/2014/main" id="{20EC01C1-EFB8-4815-B5FE-993CBDC0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LEAKY COMPUTE</a:t>
            </a:r>
          </a:p>
        </p:txBody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AF2AECEB-3D33-44EB-9060-10AD839B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SAFETY MODEL</a:t>
            </a:r>
          </a:p>
        </p:txBody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5FBA7A49-F944-41A0-897B-E80608CD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DON'T PANIC // 03</a:t>
            </a:r>
          </a:p>
        </p:txBody>
      </p:sp>
      <p:sp>
        <p:nvSpPr>
          <p:cNvPr id="5" name="rules-title">
            <a:extLst xmlns:a="http://schemas.openxmlformats.org/drawingml/2006/main">
              <a:ext uri="{FF2B5EF4-FFF2-40B4-BE49-F238E27FC236}">
                <a16:creationId xmlns:a16="http://schemas.microsoft.com/office/drawing/2014/main" id="{679D459D-6CCE-48F3-AC13-EC9817CA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Rules before features</a:t>
            </a:r>
          </a:p>
        </p:txBody>
      </p:sp>
      <p:sp>
        <p:nvSpPr>
          <p:cNvPr id="6" name="rules-subtitle">
            <a:extLst xmlns:a="http://schemas.openxmlformats.org/drawingml/2006/main">
              <a:ext uri="{FF2B5EF4-FFF2-40B4-BE49-F238E27FC236}">
                <a16:creationId xmlns:a16="http://schemas.microsoft.com/office/drawing/2014/main" id="{B5B6AF53-E723-4779-AE4D-81F00F8F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A host must pass every gate before a historical verification request could leave the runner.</a:t>
            </a:r>
          </a:p>
        </p:txBody>
      </p:sp>
      <p:sp>
        <p:nvSpPr>
          <p:cNvPr id="7" name="gate-01">
            <a:extLst xmlns:a="http://schemas.openxmlformats.org/drawingml/2006/main">
              <a:ext uri="{FF2B5EF4-FFF2-40B4-BE49-F238E27FC236}">
                <a16:creationId xmlns:a16="http://schemas.microsoft.com/office/drawing/2014/main" id="{9862E46E-5CFC-4F3A-A103-ABE15B9B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8" name="gate-number-01">
            <a:extLst xmlns:a="http://schemas.openxmlformats.org/drawingml/2006/main">
              <a:ext uri="{FF2B5EF4-FFF2-40B4-BE49-F238E27FC236}">
                <a16:creationId xmlns:a16="http://schemas.microsoft.com/office/drawing/2014/main" id="{7C4BD733-FFFB-4CF9-9CAC-13D4B44F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9" name="gate-label-01">
            <a:extLst xmlns:a="http://schemas.openxmlformats.org/drawingml/2006/main">
              <a:ext uri="{FF2B5EF4-FFF2-40B4-BE49-F238E27FC236}">
                <a16:creationId xmlns:a16="http://schemas.microsoft.com/office/drawing/2014/main" id="{B178435C-4502-4771-AC33-4748204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provenance</a:t>
            </a:r>
          </a:p>
        </p:txBody>
      </p:sp>
      <p:sp>
        <p:nvSpPr>
          <p:cNvPr id="10" name="gate-detail-01">
            <a:extLst xmlns:a="http://schemas.openxmlformats.org/drawingml/2006/main">
              <a:ext uri="{FF2B5EF4-FFF2-40B4-BE49-F238E27FC236}">
                <a16:creationId xmlns:a16="http://schemas.microsoft.com/office/drawing/2014/main" id="{B7548B89-9EBD-46D8-B54F-69BC1821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Public index or owner supplied</a:t>
            </a:r>
          </a:p>
        </p:txBody>
      </p:sp>
      <p:sp>
        <p:nvSpPr>
          <p:cNvPr id="11" name="gate-arrow-01">
            <a:extLst xmlns:a="http://schemas.openxmlformats.org/drawingml/2006/main">
              <a:ext uri="{FF2B5EF4-FFF2-40B4-BE49-F238E27FC236}">
                <a16:creationId xmlns:a16="http://schemas.microsoft.com/office/drawing/2014/main" id="{EB291A72-687A-4112-B23A-89147CA1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→</a:t>
            </a:r>
          </a:p>
        </p:txBody>
      </p:sp>
      <p:sp>
        <p:nvSpPr>
          <p:cNvPr id="12" name="gate-02">
            <a:extLst xmlns:a="http://schemas.openxmlformats.org/drawingml/2006/main">
              <a:ext uri="{FF2B5EF4-FFF2-40B4-BE49-F238E27FC236}">
                <a16:creationId xmlns:a16="http://schemas.microsoft.com/office/drawing/2014/main" id="{72ABF6AC-6D8C-4AD9-93D5-7085B0D9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13" name="gate-number-02">
            <a:extLst xmlns:a="http://schemas.openxmlformats.org/drawingml/2006/main">
              <a:ext uri="{FF2B5EF4-FFF2-40B4-BE49-F238E27FC236}">
                <a16:creationId xmlns:a16="http://schemas.microsoft.com/office/drawing/2014/main" id="{9075405E-4D05-48F8-AF64-4C815E17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4" name="gate-label-02">
            <a:extLst xmlns:a="http://schemas.openxmlformats.org/drawingml/2006/main">
              <a:ext uri="{FF2B5EF4-FFF2-40B4-BE49-F238E27FC236}">
                <a16:creationId xmlns:a16="http://schemas.microsoft.com/office/drawing/2014/main" id="{36962945-DF05-421A-B074-53F34DF6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exclusion</a:t>
            </a:r>
          </a:p>
        </p:txBody>
      </p:sp>
      <p:sp>
        <p:nvSpPr>
          <p:cNvPr id="15" name="gate-detail-02">
            <a:extLst xmlns:a="http://schemas.openxmlformats.org/drawingml/2006/main">
              <a:ext uri="{FF2B5EF4-FFF2-40B4-BE49-F238E27FC236}">
                <a16:creationId xmlns:a16="http://schemas.microsoft.com/office/drawing/2014/main" id="{EFA34223-59FC-4F28-8EAB-B06773C2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Opt-out checked first</a:t>
            </a:r>
          </a:p>
        </p:txBody>
      </p:sp>
      <p:sp>
        <p:nvSpPr>
          <p:cNvPr id="16" name="gate-arrow-02">
            <a:extLst xmlns:a="http://schemas.openxmlformats.org/drawingml/2006/main">
              <a:ext uri="{FF2B5EF4-FFF2-40B4-BE49-F238E27FC236}">
                <a16:creationId xmlns:a16="http://schemas.microsoft.com/office/drawing/2014/main" id="{9CBAEAB3-808B-48E1-A6BD-371FA985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95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→</a:t>
            </a:r>
          </a:p>
        </p:txBody>
      </p:sp>
      <p:sp>
        <p:nvSpPr>
          <p:cNvPr id="17" name="gate-03">
            <a:extLst xmlns:a="http://schemas.openxmlformats.org/drawingml/2006/main">
              <a:ext uri="{FF2B5EF4-FFF2-40B4-BE49-F238E27FC236}">
                <a16:creationId xmlns:a16="http://schemas.microsoft.com/office/drawing/2014/main" id="{C6962F94-E17A-4DDB-88A5-F679F264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18" name="gate-number-03">
            <a:extLst xmlns:a="http://schemas.openxmlformats.org/drawingml/2006/main">
              <a:ext uri="{FF2B5EF4-FFF2-40B4-BE49-F238E27FC236}">
                <a16:creationId xmlns:a16="http://schemas.microsoft.com/office/drawing/2014/main" id="{F4F1AAA2-28A7-4292-8C81-E357E06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9" name="gate-label-03">
            <a:extLst xmlns:a="http://schemas.openxmlformats.org/drawingml/2006/main">
              <a:ext uri="{FF2B5EF4-FFF2-40B4-BE49-F238E27FC236}">
                <a16:creationId xmlns:a16="http://schemas.microsoft.com/office/drawing/2014/main" id="{E1EA0200-F986-429E-947F-ACA3AEF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interval</a:t>
            </a:r>
          </a:p>
        </p:txBody>
      </p:sp>
      <p:sp>
        <p:nvSpPr>
          <p:cNvPr id="20" name="gate-detail-03">
            <a:extLst xmlns:a="http://schemas.openxmlformats.org/drawingml/2006/main">
              <a:ext uri="{FF2B5EF4-FFF2-40B4-BE49-F238E27FC236}">
                <a16:creationId xmlns:a16="http://schemas.microsoft.com/office/drawing/2014/main" id="{FEB2DFB3-82EA-4075-A7F4-6BEBC466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One cycle per host per 14 days</a:t>
            </a:r>
          </a:p>
        </p:txBody>
      </p:sp>
      <p:sp>
        <p:nvSpPr>
          <p:cNvPr id="21" name="gate-arrow-03">
            <a:extLst xmlns:a="http://schemas.openxmlformats.org/drawingml/2006/main">
              <a:ext uri="{FF2B5EF4-FFF2-40B4-BE49-F238E27FC236}">
                <a16:creationId xmlns:a16="http://schemas.microsoft.com/office/drawing/2014/main" id="{B483FC4F-F752-41DB-AD31-6EEC377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95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→</a:t>
            </a:r>
          </a:p>
        </p:txBody>
      </p:sp>
      <p:sp>
        <p:nvSpPr>
          <p:cNvPr id="22" name="gate-04">
            <a:extLst xmlns:a="http://schemas.openxmlformats.org/drawingml/2006/main">
              <a:ext uri="{FF2B5EF4-FFF2-40B4-BE49-F238E27FC236}">
                <a16:creationId xmlns:a16="http://schemas.microsoft.com/office/drawing/2014/main" id="{2D5C7594-A644-46CE-891E-FB3232D6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2476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23" name="gate-number-04">
            <a:extLst xmlns:a="http://schemas.openxmlformats.org/drawingml/2006/main">
              <a:ext uri="{FF2B5EF4-FFF2-40B4-BE49-F238E27FC236}">
                <a16:creationId xmlns:a16="http://schemas.microsoft.com/office/drawing/2014/main" id="{B1DE6E51-529E-4088-BC54-E9162512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4" name="gate-label-04">
            <a:extLst xmlns:a="http://schemas.openxmlformats.org/drawingml/2006/main">
              <a:ext uri="{FF2B5EF4-FFF2-40B4-BE49-F238E27FC236}">
                <a16:creationId xmlns:a16="http://schemas.microsoft.com/office/drawing/2014/main" id="{1F0D2512-CE09-423B-A87E-F48A79D5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rate + port</a:t>
            </a:r>
          </a:p>
        </p:txBody>
      </p:sp>
      <p:sp>
        <p:nvSpPr>
          <p:cNvPr id="25" name="gate-detail-04">
            <a:extLst xmlns:a="http://schemas.openxmlformats.org/drawingml/2006/main">
              <a:ext uri="{FF2B5EF4-FFF2-40B4-BE49-F238E27FC236}">
                <a16:creationId xmlns:a16="http://schemas.microsoft.com/office/drawing/2014/main" id="{B8439DF4-A05C-488B-88A5-EF83E398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Reviewed ports and bounded budgets</a:t>
            </a:r>
          </a:p>
        </p:txBody>
      </p:sp>
      <p:sp>
        <p:nvSpPr>
          <p:cNvPr id="26" name="rules-footer">
            <a:extLst xmlns:a="http://schemas.openxmlformats.org/drawingml/2006/main">
              <a:ext uri="{FF2B5EF4-FFF2-40B4-BE49-F238E27FC236}">
                <a16:creationId xmlns:a16="http://schemas.microsoft.com/office/drawing/2014/main" id="{4185836B-94F7-400A-9474-8BCDB8DD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GET only  •  no redirects  •  32 KiB body cap  •  reachability, never demonstrated impact</a:t>
            </a:r>
          </a:p>
        </p:txBody>
      </p:sp>
    </p:spTree>
    <p:extLst>
      <p:ext uri="{BB962C8B-B14F-4D97-AF65-F5344CB8AC3E}">
        <p14:creationId xmlns:p14="http://schemas.microsoft.com/office/powerpoint/2010/main" val="1849178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line-4">
            <a:extLst xmlns:a="http://schemas.openxmlformats.org/drawingml/2006/main">
              <a:ext uri="{FF2B5EF4-FFF2-40B4-BE49-F238E27FC236}">
                <a16:creationId xmlns:a16="http://schemas.microsoft.com/office/drawing/2014/main" id="{BF842A66-C6A8-46FC-925C-77879186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4">
            <a:extLst xmlns:a="http://schemas.openxmlformats.org/drawingml/2006/main">
              <a:ext uri="{FF2B5EF4-FFF2-40B4-BE49-F238E27FC236}">
                <a16:creationId xmlns:a16="http://schemas.microsoft.com/office/drawing/2014/main" id="{5EAFAEC8-6C59-4939-8683-DBE73261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LEAKY COMPUTE</a:t>
            </a:r>
          </a:p>
        </p:txBody>
      </p:sp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C83AD62B-E1A6-42BC-8C15-9E50457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DATA BOUNDARIES</a:t>
            </a:r>
          </a:p>
        </p:txBody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1277E357-856D-450F-9A86-60FAFD3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DON'T PANIC // 04</a:t>
            </a:r>
          </a:p>
        </p:txBody>
      </p:sp>
      <p:sp>
        <p:nvSpPr>
          <p:cNvPr id="5" name="boundaries-title">
            <a:extLst xmlns:a="http://schemas.openxmlformats.org/drawingml/2006/main">
              <a:ext uri="{FF2B5EF4-FFF2-40B4-BE49-F238E27FC236}">
                <a16:creationId xmlns:a16="http://schemas.microsoft.com/office/drawing/2014/main" id="{F10F1828-8C8A-43D7-9D0F-0ECEC04A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Three surfaces, three trust boundaries</a:t>
            </a:r>
          </a:p>
        </p:txBody>
      </p:sp>
      <p:sp>
        <p:nvSpPr>
          <p:cNvPr id="6" name="boundaries-subtitle">
            <a:extLst xmlns:a="http://schemas.openxmlformats.org/drawingml/2006/main">
              <a:ext uri="{FF2B5EF4-FFF2-40B4-BE49-F238E27FC236}">
                <a16:creationId xmlns:a16="http://schemas.microsoft.com/office/drawing/2014/main" id="{45D5F141-31AC-498E-9E97-B5B8FD23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The smallest useful representation crosses each boundary.</a:t>
            </a:r>
          </a:p>
        </p:txBody>
      </p:sp>
      <p:sp>
        <p:nvSpPr>
          <p:cNvPr id="7" name="boundary-0">
            <a:extLst xmlns:a="http://schemas.openxmlformats.org/drawingml/2006/main">
              <a:ext uri="{FF2B5EF4-FFF2-40B4-BE49-F238E27FC236}">
                <a16:creationId xmlns:a16="http://schemas.microsoft.com/office/drawing/2014/main" id="{2466278C-6AA1-4203-B68A-BF7D1FBD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0099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5CE1FF"/>
            </a:solidFill>
            <a:prstDash val="solid"/>
          </a:ln>
        </p:spPr>
      </p:sp>
      <p:sp>
        <p:nvSpPr>
          <p:cNvPr id="8" name="boundary-name-0">
            <a:extLst xmlns:a="http://schemas.openxmlformats.org/drawingml/2006/main">
              <a:ext uri="{FF2B5EF4-FFF2-40B4-BE49-F238E27FC236}">
                <a16:creationId xmlns:a16="http://schemas.microsoft.com/office/drawing/2014/main" id="{EDFA3794-C75C-4CE7-A691-3F47C155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PUBLIC</a:t>
            </a:r>
          </a:p>
        </p:txBody>
      </p:sp>
      <p:sp>
        <p:nvSpPr>
          <p:cNvPr id="9" name="boundary-primary-0">
            <a:extLst xmlns:a="http://schemas.openxmlformats.org/drawingml/2006/main">
              <a:ext uri="{FF2B5EF4-FFF2-40B4-BE49-F238E27FC236}">
                <a16:creationId xmlns:a16="http://schemas.microsoft.com/office/drawing/2014/main" id="{5443D7FD-0D28-4251-B40F-B504D651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Aggregate counts</a:t>
            </a:r>
          </a:p>
        </p:txBody>
      </p:sp>
      <p:sp>
        <p:nvSpPr>
          <p:cNvPr id="10" name="boundary-secondary-0">
            <a:extLst xmlns:a="http://schemas.openxmlformats.org/drawingml/2006/main">
              <a:ext uri="{FF2B5EF4-FFF2-40B4-BE49-F238E27FC236}">
                <a16:creationId xmlns:a16="http://schemas.microsoft.com/office/drawing/2014/main" id="{9A7484B0-8CD6-48CA-9A6F-9CD88FA5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No raw addresses</a:t>
            </a:r>
          </a:p>
        </p:txBody>
      </p:sp>
      <p:sp>
        <p:nvSpPr>
          <p:cNvPr id="11" name="boundary-1">
            <a:extLst xmlns:a="http://schemas.openxmlformats.org/drawingml/2006/main">
              <a:ext uri="{FF2B5EF4-FFF2-40B4-BE49-F238E27FC236}">
                <a16:creationId xmlns:a16="http://schemas.microsoft.com/office/drawing/2014/main" id="{E71738C8-1308-4250-9152-B6EEB862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30099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F5C542"/>
            </a:solidFill>
            <a:prstDash val="solid"/>
          </a:ln>
        </p:spPr>
      </p:sp>
      <p:sp>
        <p:nvSpPr>
          <p:cNvPr id="12" name="boundary-name-1">
            <a:extLst xmlns:a="http://schemas.openxmlformats.org/drawingml/2006/main">
              <a:ext uri="{FF2B5EF4-FFF2-40B4-BE49-F238E27FC236}">
                <a16:creationId xmlns:a16="http://schemas.microsoft.com/office/drawing/2014/main" id="{78117C47-0F09-4EC9-9E10-280D4467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432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RESEARCH LAB</a:t>
            </a:r>
          </a:p>
        </p:txBody>
      </p:sp>
      <p:sp>
        <p:nvSpPr>
          <p:cNvPr id="13" name="boundary-primary-1">
            <a:extLst xmlns:a="http://schemas.openxmlformats.org/drawingml/2006/main">
              <a:ext uri="{FF2B5EF4-FFF2-40B4-BE49-F238E27FC236}">
                <a16:creationId xmlns:a16="http://schemas.microsoft.com/office/drawing/2014/main" id="{3B425EC9-82BB-4B11-B1DF-E69A06FF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766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Minimised corpus</a:t>
            </a:r>
          </a:p>
        </p:txBody>
      </p:sp>
      <p:sp>
        <p:nvSpPr>
          <p:cNvPr id="14" name="boundary-secondary-1">
            <a:extLst xmlns:a="http://schemas.openxmlformats.org/drawingml/2006/main">
              <a:ext uri="{FF2B5EF4-FFF2-40B4-BE49-F238E27FC236}">
                <a16:creationId xmlns:a16="http://schemas.microsoft.com/office/drawing/2014/main" id="{86E39BE3-4962-4A12-99C2-768EFFC0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814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Verified Access identity + allowlist</a:t>
            </a:r>
          </a:p>
        </p:txBody>
      </p:sp>
      <p:sp>
        <p:nvSpPr>
          <p:cNvPr id="15" name="boundary-2">
            <a:extLst xmlns:a="http://schemas.openxmlformats.org/drawingml/2006/main">
              <a:ext uri="{FF2B5EF4-FFF2-40B4-BE49-F238E27FC236}">
                <a16:creationId xmlns:a16="http://schemas.microsoft.com/office/drawing/2014/main" id="{911D4EB9-0ADA-4A62-9BC1-72DE6CAD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30099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6" name="boundary-name-2">
            <a:extLst xmlns:a="http://schemas.openxmlformats.org/drawingml/2006/main">
              <a:ext uri="{FF2B5EF4-FFF2-40B4-BE49-F238E27FC236}">
                <a16:creationId xmlns:a16="http://schemas.microsoft.com/office/drawing/2014/main" id="{64D34A67-5E72-49E7-B3F2-0801DF1E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ADMIN</a:t>
            </a:r>
          </a:p>
        </p:txBody>
      </p:sp>
      <p:sp>
        <p:nvSpPr>
          <p:cNvPr id="17" name="boundary-primary-2">
            <a:extLst xmlns:a="http://schemas.openxmlformats.org/drawingml/2006/main">
              <a:ext uri="{FF2B5EF4-FFF2-40B4-BE49-F238E27FC236}">
                <a16:creationId xmlns:a16="http://schemas.microsoft.com/office/drawing/2014/main" id="{3128A6EC-C834-478E-B793-E7A8BA0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Ingest + authorization</a:t>
            </a:r>
          </a:p>
        </p:txBody>
      </p:sp>
      <p:sp>
        <p:nvSpPr>
          <p:cNvPr id="18" name="boundary-secondary-2">
            <a:extLst xmlns:a="http://schemas.openxmlformats.org/drawingml/2006/main">
              <a:ext uri="{FF2B5EF4-FFF2-40B4-BE49-F238E27FC236}">
                <a16:creationId xmlns:a16="http://schemas.microsoft.com/office/drawing/2014/main" id="{0E3BF503-3E55-4499-B783-98407DC7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8145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Separate token and exact routes</a:t>
            </a:r>
          </a:p>
        </p:txBody>
      </p:sp>
      <p:sp>
        <p:nvSpPr>
          <p:cNvPr id="19" name="boundary-foot">
            <a:extLst xmlns:a="http://schemas.openxmlformats.org/drawingml/2006/main">
              <a:ext uri="{FF2B5EF4-FFF2-40B4-BE49-F238E27FC236}">
                <a16:creationId xmlns:a16="http://schemas.microsoft.com/office/drawing/2014/main" id="{1E5E649B-6954-4F01-9318-F4007BCD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A signed identity is not a display name. A researcher route is not an admin route. An aggregate is not a raw record.</a:t>
            </a:r>
          </a:p>
        </p:txBody>
      </p:sp>
    </p:spTree>
    <p:extLst>
      <p:ext uri="{BB962C8B-B14F-4D97-AF65-F5344CB8AC3E}">
        <p14:creationId xmlns:p14="http://schemas.microsoft.com/office/powerpoint/2010/main" val="17344254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line-5">
            <a:extLst xmlns:a="http://schemas.openxmlformats.org/drawingml/2006/main">
              <a:ext uri="{FF2B5EF4-FFF2-40B4-BE49-F238E27FC236}">
                <a16:creationId xmlns:a16="http://schemas.microsoft.com/office/drawing/2014/main" id="{D4B48AEF-5C8E-48F7-BF4B-91D871D1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5">
            <a:extLst xmlns:a="http://schemas.openxmlformats.org/drawingml/2006/main">
              <a:ext uri="{FF2B5EF4-FFF2-40B4-BE49-F238E27FC236}">
                <a16:creationId xmlns:a16="http://schemas.microsoft.com/office/drawing/2014/main" id="{12B371FC-08AF-4139-BAD5-B848689D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LEAKY COMPUTE</a:t>
            </a:r>
          </a:p>
        </p:txBody>
      </p:sp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42A3EBBE-DD6D-45F1-94BF-32D832D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RETAINED OBSERVATIONS</a:t>
            </a:r>
          </a:p>
        </p:txBody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B3CFC2F9-02D7-4C24-B635-88D98CDD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DON'T PANIC // 05</a:t>
            </a:r>
          </a:p>
        </p:txBody>
      </p:sp>
      <p:sp>
        <p:nvSpPr>
          <p:cNvPr id="5" name="exposure-title">
            <a:extLst xmlns:a="http://schemas.openxmlformats.org/drawingml/2006/main">
              <a:ext uri="{FF2B5EF4-FFF2-40B4-BE49-F238E27FC236}">
                <a16:creationId xmlns:a16="http://schemas.microsoft.com/office/drawing/2014/main" id="{83339ED1-2816-4081-A325-CD176FFB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What open endpoints make reachable</a:t>
            </a:r>
          </a:p>
        </p:txBody>
      </p:sp>
      <p:sp>
        <p:nvSpPr>
          <p:cNvPr id="6" name="exposure-subtitle">
            <a:extLst xmlns:a="http://schemas.openxmlformats.org/drawingml/2006/main">
              <a:ext uri="{FF2B5EF4-FFF2-40B4-BE49-F238E27FC236}">
                <a16:creationId xmlns:a16="http://schemas.microsoft.com/office/drawing/2014/main" id="{DC598853-177D-4E1C-BE86-71DE43CC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Host and stack pairs in the retained historical snapshot. A host can appear in more than one class.</a:t>
            </a:r>
          </a:p>
        </p:txBody>
      </p:sp>
      <p:sp>
        <p:nvSpPr>
          <p:cNvPr id="7" name="exposure-value-0">
            <a:extLst xmlns:a="http://schemas.openxmlformats.org/drawingml/2006/main">
              <a:ext uri="{FF2B5EF4-FFF2-40B4-BE49-F238E27FC236}">
                <a16:creationId xmlns:a16="http://schemas.microsoft.com/office/drawing/2014/main" id="{0CC6E8CD-AB33-4CBD-AF35-08E2AF6C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969</a:t>
            </a:r>
          </a:p>
        </p:txBody>
      </p:sp>
      <p:sp>
        <p:nvSpPr>
          <p:cNvPr id="8" name="exposure-label-0">
            <a:extLst xmlns:a="http://schemas.openxmlformats.org/drawingml/2006/main">
              <a:ext uri="{FF2B5EF4-FFF2-40B4-BE49-F238E27FC236}">
                <a16:creationId xmlns:a16="http://schemas.microsoft.com/office/drawing/2014/main" id="{94063356-95EC-4A91-9FC8-75D38662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24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models and inference open</a:t>
            </a:r>
          </a:p>
        </p:txBody>
      </p:sp>
      <p:sp>
        <p:nvSpPr>
          <p:cNvPr id="9" name="exposure-stack-0">
            <a:extLst xmlns:a="http://schemas.openxmlformats.org/drawingml/2006/main">
              <a:ext uri="{FF2B5EF4-FFF2-40B4-BE49-F238E27FC236}">
                <a16:creationId xmlns:a16="http://schemas.microsoft.com/office/drawing/2014/main" id="{E29CC64A-DBF9-4916-95A4-69891997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527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Ollama, Open WebUI, LocalAI, compatible APIs</a:t>
            </a:r>
          </a:p>
        </p:txBody>
      </p:sp>
      <p:sp>
        <p:nvSpPr>
          <p:cNvPr id="10" name="exposure-track-0">
            <a:extLst xmlns:a="http://schemas.openxmlformats.org/drawingml/2006/main">
              <a:ext uri="{FF2B5EF4-FFF2-40B4-BE49-F238E27FC236}">
                <a16:creationId xmlns:a16="http://schemas.microsoft.com/office/drawing/2014/main" id="{0DFA4A02-9914-47BB-B5A7-6ED80112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234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11" name="exposure-bar-0">
            <a:extLst xmlns:a="http://schemas.openxmlformats.org/drawingml/2006/main">
              <a:ext uri="{FF2B5EF4-FFF2-40B4-BE49-F238E27FC236}">
                <a16:creationId xmlns:a16="http://schemas.microsoft.com/office/drawing/2014/main" id="{53BAF49F-8477-4FF4-84B1-6938149A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xposure-value-1">
            <a:extLst xmlns:a="http://schemas.openxmlformats.org/drawingml/2006/main">
              <a:ext uri="{FF2B5EF4-FFF2-40B4-BE49-F238E27FC236}">
                <a16:creationId xmlns:a16="http://schemas.microsoft.com/office/drawing/2014/main" id="{1D40A1E5-9AD7-44C5-9CD0-5C9AE5EC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188</a:t>
            </a:r>
          </a:p>
        </p:txBody>
      </p:sp>
      <p:sp>
        <p:nvSpPr>
          <p:cNvPr id="13" name="exposure-label-1">
            <a:extLst xmlns:a="http://schemas.openxmlformats.org/drawingml/2006/main">
              <a:ext uri="{FF2B5EF4-FFF2-40B4-BE49-F238E27FC236}">
                <a16:creationId xmlns:a16="http://schemas.microsoft.com/office/drawing/2014/main" id="{F515CDDA-804A-48F1-B7F7-88DE137D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workflow execution open</a:t>
            </a:r>
          </a:p>
        </p:txBody>
      </p:sp>
      <p:sp>
        <p:nvSpPr>
          <p:cNvPr id="14" name="exposure-stack-1">
            <a:extLst xmlns:a="http://schemas.openxmlformats.org/drawingml/2006/main">
              <a:ext uri="{FF2B5EF4-FFF2-40B4-BE49-F238E27FC236}">
                <a16:creationId xmlns:a16="http://schemas.microsoft.com/office/drawing/2014/main" id="{8EB94339-BF9A-40AE-A517-1FCD226A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290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ComfyUI workflow endpoints</a:t>
            </a:r>
          </a:p>
        </p:txBody>
      </p:sp>
      <p:sp>
        <p:nvSpPr>
          <p:cNvPr id="15" name="exposure-track-1">
            <a:extLst xmlns:a="http://schemas.openxmlformats.org/drawingml/2006/main">
              <a:ext uri="{FF2B5EF4-FFF2-40B4-BE49-F238E27FC236}">
                <a16:creationId xmlns:a16="http://schemas.microsoft.com/office/drawing/2014/main" id="{C339640F-1B2B-43EC-B747-AA04906E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234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16" name="exposure-bar-1">
            <a:extLst xmlns:a="http://schemas.openxmlformats.org/drawingml/2006/main">
              <a:ext uri="{FF2B5EF4-FFF2-40B4-BE49-F238E27FC236}">
                <a16:creationId xmlns:a16="http://schemas.microsoft.com/office/drawing/2014/main" id="{43205B1E-E546-45B1-9FC8-CE013E24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923994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xposure-value-2">
            <a:extLst xmlns:a="http://schemas.openxmlformats.org/drawingml/2006/main">
              <a:ext uri="{FF2B5EF4-FFF2-40B4-BE49-F238E27FC236}">
                <a16:creationId xmlns:a16="http://schemas.microsoft.com/office/drawing/2014/main" id="{A9C79F14-3324-4ECF-929E-C041AEFC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129</a:t>
            </a:r>
          </a:p>
        </p:txBody>
      </p:sp>
      <p:sp>
        <p:nvSpPr>
          <p:cNvPr id="18" name="exposure-label-2">
            <a:extLst xmlns:a="http://schemas.openxmlformats.org/drawingml/2006/main">
              <a:ext uri="{FF2B5EF4-FFF2-40B4-BE49-F238E27FC236}">
                <a16:creationId xmlns:a16="http://schemas.microsoft.com/office/drawing/2014/main" id="{380D7C71-C19B-4ED1-A75A-82664A2B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76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training metadata open</a:t>
            </a:r>
          </a:p>
        </p:txBody>
      </p:sp>
      <p:sp>
        <p:nvSpPr>
          <p:cNvPr id="19" name="exposure-stack-2">
            <a:extLst xmlns:a="http://schemas.openxmlformats.org/drawingml/2006/main">
              <a:ext uri="{FF2B5EF4-FFF2-40B4-BE49-F238E27FC236}">
                <a16:creationId xmlns:a16="http://schemas.microsoft.com/office/drawing/2014/main" id="{6A801856-2802-475B-87D1-08883288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053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MLflow and TensorBoard</a:t>
            </a:r>
          </a:p>
        </p:txBody>
      </p:sp>
      <p:sp>
        <p:nvSpPr>
          <p:cNvPr id="20" name="exposure-track-2">
            <a:extLst xmlns:a="http://schemas.openxmlformats.org/drawingml/2006/main">
              <a:ext uri="{FF2B5EF4-FFF2-40B4-BE49-F238E27FC236}">
                <a16:creationId xmlns:a16="http://schemas.microsoft.com/office/drawing/2014/main" id="{3860B45F-1C80-4AFC-9692-A0891DB6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234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21" name="exposure-bar-2">
            <a:extLst xmlns:a="http://schemas.openxmlformats.org/drawingml/2006/main">
              <a:ext uri="{FF2B5EF4-FFF2-40B4-BE49-F238E27FC236}">
                <a16:creationId xmlns:a16="http://schemas.microsoft.com/office/drawing/2014/main" id="{E0B3F397-5D55-4BAA-A3F8-F3B66DA0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634017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xposure-value-3">
            <a:extLst xmlns:a="http://schemas.openxmlformats.org/drawingml/2006/main">
              <a:ext uri="{FF2B5EF4-FFF2-40B4-BE49-F238E27FC236}">
                <a16:creationId xmlns:a16="http://schemas.microsoft.com/office/drawing/2014/main" id="{79CCB400-61D2-49D7-8B76-4B3D3631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2325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78</a:t>
            </a:r>
          </a:p>
        </p:txBody>
      </p:sp>
      <p:sp>
        <p:nvSpPr>
          <p:cNvPr id="23" name="exposure-label-3">
            <a:extLst xmlns:a="http://schemas.openxmlformats.org/drawingml/2006/main">
              <a:ext uri="{FF2B5EF4-FFF2-40B4-BE49-F238E27FC236}">
                <a16:creationId xmlns:a16="http://schemas.microsoft.com/office/drawing/2014/main" id="{F31F6BCD-6DF4-47EE-988C-0F723727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code execution reachable</a:t>
            </a:r>
          </a:p>
        </p:txBody>
      </p:sp>
      <p:sp>
        <p:nvSpPr>
          <p:cNvPr id="24" name="exposure-stack-3">
            <a:extLst xmlns:a="http://schemas.openxmlformats.org/drawingml/2006/main">
              <a:ext uri="{FF2B5EF4-FFF2-40B4-BE49-F238E27FC236}">
                <a16:creationId xmlns:a16="http://schemas.microsoft.com/office/drawing/2014/main" id="{F4EF6D83-30F3-40A0-9608-06424480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Jupyter and Ray prerequisites</a:t>
            </a:r>
          </a:p>
        </p:txBody>
      </p:sp>
      <p:sp>
        <p:nvSpPr>
          <p:cNvPr id="25" name="exposure-track-3">
            <a:extLst xmlns:a="http://schemas.openxmlformats.org/drawingml/2006/main">
              <a:ext uri="{FF2B5EF4-FFF2-40B4-BE49-F238E27FC236}">
                <a16:creationId xmlns:a16="http://schemas.microsoft.com/office/drawing/2014/main" id="{A97C193F-77E1-43C8-B850-CF3079B4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4762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234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26" name="exposure-bar-3">
            <a:extLst xmlns:a="http://schemas.openxmlformats.org/drawingml/2006/main">
              <a:ext uri="{FF2B5EF4-FFF2-40B4-BE49-F238E27FC236}">
                <a16:creationId xmlns:a16="http://schemas.microsoft.com/office/drawing/2014/main" id="{2B7201EE-AA63-4C1E-AE08-884D7AF2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383359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xposure-foot">
            <a:extLst xmlns:a="http://schemas.openxmlformats.org/drawingml/2006/main">
              <a:ext uri="{FF2B5EF4-FFF2-40B4-BE49-F238E27FC236}">
                <a16:creationId xmlns:a16="http://schemas.microsoft.com/office/drawing/2014/main" id="{86C4C726-8B23-4FB9-B0D9-D867658C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DDC97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3DDC97"/>
                </a:solidFill>
                <a:latin typeface="Aptos Mono"/>
                <a:ea typeface="Aptos Mono"/>
                <a:cs typeface="Aptos Mono"/>
              </a:rPr>
              <a:t>Reachability observed  •  exploitability not tested</a:t>
            </a:r>
          </a:p>
        </p:txBody>
      </p:sp>
    </p:spTree>
    <p:extLst>
      <p:ext uri="{BB962C8B-B14F-4D97-AF65-F5344CB8AC3E}">
        <p14:creationId xmlns:p14="http://schemas.microsoft.com/office/powerpoint/2010/main" val="704414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line-6">
            <a:extLst xmlns:a="http://schemas.openxmlformats.org/drawingml/2006/main">
              <a:ext uri="{FF2B5EF4-FFF2-40B4-BE49-F238E27FC236}">
                <a16:creationId xmlns:a16="http://schemas.microsoft.com/office/drawing/2014/main" id="{1220C265-70FC-4EFC-9591-C8CD79C3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6">
            <a:extLst xmlns:a="http://schemas.openxmlformats.org/drawingml/2006/main">
              <a:ext uri="{FF2B5EF4-FFF2-40B4-BE49-F238E27FC236}">
                <a16:creationId xmlns:a16="http://schemas.microsoft.com/office/drawing/2014/main" id="{3C4D8A86-65D2-4113-8432-87A036EE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LEAKY COMPUTE</a:t>
            </a:r>
          </a:p>
        </p:txBody>
      </p:sp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1906E4E2-3AAB-4D2F-ABAA-6C6288E5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ADVERSARIAL REVIEW</a:t>
            </a:r>
          </a:p>
        </p:txBody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5E236841-51C1-4CB0-BD14-C0885411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DON'T PANIC // 06</a:t>
            </a:r>
          </a:p>
        </p:txBody>
      </p:sp>
      <p:sp>
        <p:nvSpPr>
          <p:cNvPr id="5" name="daybreak-title">
            <a:extLst xmlns:a="http://schemas.openxmlformats.org/drawingml/2006/main">
              <a:ext uri="{FF2B5EF4-FFF2-40B4-BE49-F238E27FC236}">
                <a16:creationId xmlns:a16="http://schemas.microsoft.com/office/drawing/2014/main" id="{4367001C-F4C5-42D9-8086-CCE16F2D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Daybreak Blue attacked the safety claims</a:t>
            </a:r>
          </a:p>
        </p:txBody>
      </p:sp>
      <p:sp>
        <p:nvSpPr>
          <p:cNvPr id="6" name="daybreak-subtitle">
            <a:extLst xmlns:a="http://schemas.openxmlformats.org/drawingml/2006/main">
              <a:ext uri="{FF2B5EF4-FFF2-40B4-BE49-F238E27FC236}">
                <a16:creationId xmlns:a16="http://schemas.microsoft.com/office/drawing/2014/main" id="{3C9AC650-FA92-48F5-8EBA-9CAC1B97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The review covered code, identity, storage, workflows, Cloudflare configuration, runners, and tests. No third-party target was probed.</a:t>
            </a:r>
          </a:p>
        </p:txBody>
      </p:sp>
      <p:sp>
        <p:nvSpPr>
          <p:cNvPr id="7" name="daybreak-panel-0">
            <a:extLst xmlns:a="http://schemas.openxmlformats.org/drawingml/2006/main">
              <a:ext uri="{FF2B5EF4-FFF2-40B4-BE49-F238E27FC236}">
                <a16:creationId xmlns:a16="http://schemas.microsoft.com/office/drawing/2014/main" id="{79A1A662-F95E-49CA-B23C-620D5909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2476500" cy="2857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8" name="daybreak-heading-0">
            <a:extLst xmlns:a="http://schemas.openxmlformats.org/drawingml/2006/main">
              <a:ext uri="{FF2B5EF4-FFF2-40B4-BE49-F238E27FC236}">
                <a16:creationId xmlns:a16="http://schemas.microsoft.com/office/drawing/2014/main" id="{C92EF41F-B1AB-4235-8685-AC3C73D3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IDENTITY</a:t>
            </a:r>
          </a:p>
        </p:txBody>
      </p:sp>
      <p:sp>
        <p:nvSpPr>
          <p:cNvPr id="9" name="daybreak-items-0">
            <a:extLst xmlns:a="http://schemas.openxmlformats.org/drawingml/2006/main">
              <a:ext uri="{FF2B5EF4-FFF2-40B4-BE49-F238E27FC236}">
                <a16:creationId xmlns:a16="http://schemas.microsoft.com/office/drawing/2014/main" id="{857E40E9-5E37-40C4-A3C5-45ED65D0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researcher impersonation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alias lifecycle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denial-log privacy</a:t>
            </a:r>
          </a:p>
        </p:txBody>
      </p:sp>
      <p:sp>
        <p:nvSpPr>
          <p:cNvPr id="10" name="daybreak-panel-1">
            <a:extLst xmlns:a="http://schemas.openxmlformats.org/drawingml/2006/main">
              <a:ext uri="{FF2B5EF4-FFF2-40B4-BE49-F238E27FC236}">
                <a16:creationId xmlns:a16="http://schemas.microsoft.com/office/drawing/2014/main" id="{86FF83B8-407E-478F-A77F-BA263058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2476500" cy="2857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11" name="daybreak-heading-1">
            <a:extLst xmlns:a="http://schemas.openxmlformats.org/drawingml/2006/main">
              <a:ext uri="{FF2B5EF4-FFF2-40B4-BE49-F238E27FC236}">
                <a16:creationId xmlns:a16="http://schemas.microsoft.com/office/drawing/2014/main" id="{B3593E6C-96EC-4DDD-9B76-40733BF3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PROBES</a:t>
            </a:r>
          </a:p>
        </p:txBody>
      </p:sp>
      <p:sp>
        <p:nvSpPr>
          <p:cNvPr id="12" name="daybreak-items-1">
            <a:extLst xmlns:a="http://schemas.openxmlformats.org/drawingml/2006/main">
              <a:ext uri="{FF2B5EF4-FFF2-40B4-BE49-F238E27FC236}">
                <a16:creationId xmlns:a16="http://schemas.microsoft.com/office/drawing/2014/main" id="{E4D18CD1-B0F8-4421-A76A-54EE2CB4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address bypasses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stale provenance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ledger crash window</a:t>
            </a:r>
          </a:p>
        </p:txBody>
      </p:sp>
      <p:sp>
        <p:nvSpPr>
          <p:cNvPr id="13" name="daybreak-panel-2">
            <a:extLst xmlns:a="http://schemas.openxmlformats.org/drawingml/2006/main">
              <a:ext uri="{FF2B5EF4-FFF2-40B4-BE49-F238E27FC236}">
                <a16:creationId xmlns:a16="http://schemas.microsoft.com/office/drawing/2014/main" id="{47339F96-BE39-4CFA-8B36-D42812C7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2476500" cy="2857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14" name="daybreak-heading-2">
            <a:extLst xmlns:a="http://schemas.openxmlformats.org/drawingml/2006/main">
              <a:ext uri="{FF2B5EF4-FFF2-40B4-BE49-F238E27FC236}">
                <a16:creationId xmlns:a16="http://schemas.microsoft.com/office/drawing/2014/main" id="{1109D77C-6820-41CC-B5B5-86DFA26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STATE</a:t>
            </a:r>
          </a:p>
        </p:txBody>
      </p:sp>
      <p:sp>
        <p:nvSpPr>
          <p:cNvPr id="15" name="daybreak-items-2">
            <a:extLst xmlns:a="http://schemas.openxmlformats.org/drawingml/2006/main">
              <a:ext uri="{FF2B5EF4-FFF2-40B4-BE49-F238E27FC236}">
                <a16:creationId xmlns:a16="http://schemas.microsoft.com/office/drawing/2014/main" id="{C6D3BFDD-5BA1-4BDC-9A8C-A8243E18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partial recounts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fail-open exclusions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route confusion</a:t>
            </a:r>
          </a:p>
        </p:txBody>
      </p:sp>
      <p:sp>
        <p:nvSpPr>
          <p:cNvPr id="16" name="daybreak-panel-3">
            <a:extLst xmlns:a="http://schemas.openxmlformats.org/drawingml/2006/main">
              <a:ext uri="{FF2B5EF4-FFF2-40B4-BE49-F238E27FC236}">
                <a16:creationId xmlns:a16="http://schemas.microsoft.com/office/drawing/2014/main" id="{7E353312-2277-4628-A11C-0739D0BE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14600"/>
            <a:ext cx="2476500" cy="2857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2A3348"/>
            </a:solidFill>
            <a:prstDash val="solid"/>
          </a:ln>
        </p:spPr>
      </p:sp>
      <p:sp>
        <p:nvSpPr>
          <p:cNvPr id="17" name="daybreak-heading-3">
            <a:extLst xmlns:a="http://schemas.openxmlformats.org/drawingml/2006/main">
              <a:ext uri="{FF2B5EF4-FFF2-40B4-BE49-F238E27FC236}">
                <a16:creationId xmlns:a16="http://schemas.microsoft.com/office/drawing/2014/main" id="{6B424BED-6CF5-43A5-9047-4724970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AUTOMATION</a:t>
            </a:r>
          </a:p>
        </p:txBody>
      </p:sp>
      <p:sp>
        <p:nvSpPr>
          <p:cNvPr id="18" name="daybreak-items-3">
            <a:extLst xmlns:a="http://schemas.openxmlformats.org/drawingml/2006/main">
              <a:ext uri="{FF2B5EF4-FFF2-40B4-BE49-F238E27FC236}">
                <a16:creationId xmlns:a16="http://schemas.microsoft.com/office/drawing/2014/main" id="{72CC68A6-1FAC-4908-9D34-1419885A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2019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public raw artifacts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unsafe event parsing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supply-chain drift</a:t>
            </a:r>
          </a:p>
        </p:txBody>
      </p:sp>
      <p:sp>
        <p:nvSpPr>
          <p:cNvPr id="19" name="daybreak-question">
            <a:extLst xmlns:a="http://schemas.openxmlformats.org/drawingml/2006/main">
              <a:ext uri="{FF2B5EF4-FFF2-40B4-BE49-F238E27FC236}">
                <a16:creationId xmlns:a16="http://schemas.microsoft.com/office/drawing/2014/main" id="{0DE520DA-924E-49A5-B839-48264761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Every promise became a question: how could this fail under hostile input, stale state, or a partial crash?</a:t>
            </a:r>
          </a:p>
        </p:txBody>
      </p:sp>
    </p:spTree>
    <p:extLst>
      <p:ext uri="{BB962C8B-B14F-4D97-AF65-F5344CB8AC3E}">
        <p14:creationId xmlns:p14="http://schemas.microsoft.com/office/powerpoint/2010/main" val="1099525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line-7">
            <a:extLst xmlns:a="http://schemas.openxmlformats.org/drawingml/2006/main">
              <a:ext uri="{FF2B5EF4-FFF2-40B4-BE49-F238E27FC236}">
                <a16:creationId xmlns:a16="http://schemas.microsoft.com/office/drawing/2014/main" id="{779ED7BC-57DC-4942-A3DD-56B5821B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7">
            <a:extLst xmlns:a="http://schemas.openxmlformats.org/drawingml/2006/main">
              <a:ext uri="{FF2B5EF4-FFF2-40B4-BE49-F238E27FC236}">
                <a16:creationId xmlns:a16="http://schemas.microsoft.com/office/drawing/2014/main" id="{1DF9BCD6-643B-476D-8322-4F0D114E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LEAKY COMPUTE</a:t>
            </a:r>
          </a:p>
        </p:txBody>
      </p:sp>
      <p:sp>
        <p:nvSpPr>
          <p:cNvPr id="3" name="section-7">
            <a:extLst xmlns:a="http://schemas.openxmlformats.org/drawingml/2006/main">
              <a:ext uri="{FF2B5EF4-FFF2-40B4-BE49-F238E27FC236}">
                <a16:creationId xmlns:a16="http://schemas.microsoft.com/office/drawing/2014/main" id="{19ED01A0-73EC-4254-9726-71BAFD2C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CONTAINMENT</a:t>
            </a:r>
          </a:p>
        </p:txBody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D86559DC-050C-4F80-861F-FF30366E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DON'T PANIC // 07</a:t>
            </a:r>
          </a:p>
        </p:txBody>
      </p:sp>
      <p:sp>
        <p:nvSpPr>
          <p:cNvPr id="5" name="containment-title">
            <a:extLst xmlns:a="http://schemas.openxmlformats.org/drawingml/2006/main">
              <a:ext uri="{FF2B5EF4-FFF2-40B4-BE49-F238E27FC236}">
                <a16:creationId xmlns:a16="http://schemas.microsoft.com/office/drawing/2014/main" id="{1243D50D-5EB2-49DE-B85E-A51DA1A2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Fix the bug, contain the capability</a:t>
            </a:r>
          </a:p>
        </p:txBody>
      </p:sp>
      <p:sp>
        <p:nvSpPr>
          <p:cNvPr id="6" name="containment-subtitle">
            <a:extLst xmlns:a="http://schemas.openxmlformats.org/drawingml/2006/main">
              <a:ext uri="{FF2B5EF4-FFF2-40B4-BE49-F238E27FC236}">
                <a16:creationId xmlns:a16="http://schemas.microsoft.com/office/drawing/2014/main" id="{2C5058F4-12E1-4B39-8EF2-8BFA5F72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Concrete defects were remediated. Risky surfaces stayed off when the architectural control was not ready.</a:t>
            </a:r>
          </a:p>
        </p:txBody>
      </p:sp>
      <p:sp>
        <p:nvSpPr>
          <p:cNvPr id="7" name="fixed-panel">
            <a:extLst xmlns:a="http://schemas.openxmlformats.org/drawingml/2006/main">
              <a:ext uri="{FF2B5EF4-FFF2-40B4-BE49-F238E27FC236}">
                <a16:creationId xmlns:a16="http://schemas.microsoft.com/office/drawing/2014/main" id="{9DEAD16D-4BB7-4CD4-82FE-B49D29BE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43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8" name="fixed-title">
            <a:extLst xmlns:a="http://schemas.openxmlformats.org/drawingml/2006/main">
              <a:ext uri="{FF2B5EF4-FFF2-40B4-BE49-F238E27FC236}">
                <a16:creationId xmlns:a16="http://schemas.microsoft.com/office/drawing/2014/main" id="{E6125C46-0268-43F7-AD54-C6F11386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DC97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3DDC97"/>
                </a:solidFill>
                <a:latin typeface="Aptos Mono"/>
                <a:ea typeface="Aptos Mono"/>
                <a:cs typeface="Aptos Mono"/>
              </a:rPr>
              <a:t>FIXED OR CONTAINED</a:t>
            </a:r>
          </a:p>
        </p:txBody>
      </p:sp>
      <p:sp>
        <p:nvSpPr>
          <p:cNvPr id="9" name="fixed-list">
            <a:extLst xmlns:a="http://schemas.openxmlformats.org/drawingml/2006/main">
              <a:ext uri="{FF2B5EF4-FFF2-40B4-BE49-F238E27FC236}">
                <a16:creationId xmlns:a16="http://schemas.microsoft.com/office/drawing/2014/main" id="{07BCCB6C-5CC4-444D-BD12-99AAAAE3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4196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signed identity verification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canonical public-IP parsing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exact bridge routes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redacted workflows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bounded reads + redirects blocked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pinned supply chain</a:t>
            </a:r>
          </a:p>
        </p:txBody>
      </p:sp>
      <p:sp>
        <p:nvSpPr>
          <p:cNvPr id="10" name="blocked-panel">
            <a:extLst xmlns:a="http://schemas.openxmlformats.org/drawingml/2006/main">
              <a:ext uri="{FF2B5EF4-FFF2-40B4-BE49-F238E27FC236}">
                <a16:creationId xmlns:a16="http://schemas.microsoft.com/office/drawing/2014/main" id="{306C79A7-4C66-4890-82D5-FA414801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5143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F5C542"/>
            </a:solidFill>
            <a:prstDash val="solid"/>
          </a:ln>
        </p:spPr>
      </p:sp>
      <p:sp>
        <p:nvSpPr>
          <p:cNvPr id="11" name="blocked-title">
            <a:extLst xmlns:a="http://schemas.openxmlformats.org/drawingml/2006/main">
              <a:ext uri="{FF2B5EF4-FFF2-40B4-BE49-F238E27FC236}">
                <a16:creationId xmlns:a16="http://schemas.microsoft.com/office/drawing/2014/main" id="{0CC257EA-32EC-4241-9DDD-F577F437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STILL REQUIRED</a:t>
            </a:r>
          </a:p>
        </p:txBody>
      </p:sp>
      <p:sp>
        <p:nvSpPr>
          <p:cNvPr id="12" name="blocked-list">
            <a:extLst xmlns:a="http://schemas.openxmlformats.org/drawingml/2006/main">
              <a:ext uri="{FF2B5EF4-FFF2-40B4-BE49-F238E27FC236}">
                <a16:creationId xmlns:a16="http://schemas.microsoft.com/office/drawing/2014/main" id="{3A3149EE-3AFA-4913-AA0C-E1709C09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44196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durable pre-probe lease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pageable corpus storage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verifiable opt-out deletion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retention at corpus scale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complete reconciliation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• durable security state</a:t>
            </a:r>
          </a:p>
        </p:txBody>
      </p:sp>
      <p:sp>
        <p:nvSpPr>
          <p:cNvPr id="13" name="containment-foot">
            <a:extLst xmlns:a="http://schemas.openxmlformats.org/drawingml/2006/main">
              <a:ext uri="{FF2B5EF4-FFF2-40B4-BE49-F238E27FC236}">
                <a16:creationId xmlns:a16="http://schemas.microsoft.com/office/drawing/2014/main" id="{1D84A1FE-3AAE-4556-86BE-2A76B044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65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13 discovery artifact and workflow log sets were deleted. No credential leak was confirmed.</a:t>
            </a:r>
          </a:p>
        </p:txBody>
      </p:sp>
    </p:spTree>
    <p:extLst>
      <p:ext uri="{BB962C8B-B14F-4D97-AF65-F5344CB8AC3E}">
        <p14:creationId xmlns:p14="http://schemas.microsoft.com/office/powerpoint/2010/main" val="1009326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line-8">
            <a:extLst xmlns:a="http://schemas.openxmlformats.org/drawingml/2006/main">
              <a:ext uri="{FF2B5EF4-FFF2-40B4-BE49-F238E27FC236}">
                <a16:creationId xmlns:a16="http://schemas.microsoft.com/office/drawing/2014/main" id="{BC1F7C50-2528-4E12-99D8-7D80B077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E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8">
            <a:extLst xmlns:a="http://schemas.openxmlformats.org/drawingml/2006/main">
              <a:ext uri="{FF2B5EF4-FFF2-40B4-BE49-F238E27FC236}">
                <a16:creationId xmlns:a16="http://schemas.microsoft.com/office/drawing/2014/main" id="{56DF16D2-786B-43C9-8E02-360CFD21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5C542"/>
                </a:solidFill>
                <a:latin typeface="Aptos Mono"/>
                <a:ea typeface="Aptos Mono"/>
                <a:cs typeface="Aptos Mono"/>
              </a:rPr>
              <a:t>LEAKY COMPUTE</a:t>
            </a:r>
          </a:p>
        </p:txBody>
      </p:sp>
      <p:sp>
        <p:nvSpPr>
          <p:cNvPr id="3" name="section-8">
            <a:extLst xmlns:a="http://schemas.openxmlformats.org/drawingml/2006/main">
              <a:ext uri="{FF2B5EF4-FFF2-40B4-BE49-F238E27FC236}">
                <a16:creationId xmlns:a16="http://schemas.microsoft.com/office/drawing/2014/main" id="{A891F17E-CDD1-4CC4-828D-03612A40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"/>
            <a:ext cx="3390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CURRENT POSTURE</a:t>
            </a:r>
          </a:p>
        </p:txBody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8154D1DC-6FAD-4A99-8A05-87ED5831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DON'T PANIC // 08</a:t>
            </a:r>
          </a:p>
        </p:txBody>
      </p:sp>
      <p:sp>
        <p:nvSpPr>
          <p:cNvPr id="5" name="posture-title">
            <a:extLst xmlns:a="http://schemas.openxmlformats.org/drawingml/2006/main">
              <a:ext uri="{FF2B5EF4-FFF2-40B4-BE49-F238E27FC236}">
                <a16:creationId xmlns:a16="http://schemas.microsoft.com/office/drawing/2014/main" id="{76162370-A918-4624-A76C-081793B0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3750" b="1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A narrower system, and an honest one</a:t>
            </a:r>
          </a:p>
        </p:txBody>
      </p:sp>
      <p:sp>
        <p:nvSpPr>
          <p:cNvPr id="6" name="posture-subtitle">
            <a:extLst xmlns:a="http://schemas.openxmlformats.org/drawingml/2006/main">
              <a:ext uri="{FF2B5EF4-FFF2-40B4-BE49-F238E27FC236}">
                <a16:creationId xmlns:a16="http://schemas.microsoft.com/office/drawing/2014/main" id="{FD0A1192-77C6-4EBD-886B-A837D68B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8B93A7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8B93A7"/>
                </a:solidFill>
                <a:latin typeface="Aptos Mono"/>
                <a:ea typeface="Aptos Mono"/>
                <a:cs typeface="Aptos Mono"/>
              </a:rPr>
              <a:t>The safety boundary includes identity, logs, retries, storage, redirects, workflows, and dependency pins. The probe is only one piece.</a:t>
            </a:r>
          </a:p>
        </p:txBody>
      </p:sp>
      <p:sp>
        <p:nvSpPr>
          <p:cNvPr id="7" name="on-panel">
            <a:extLst xmlns:a="http://schemas.openxmlformats.org/drawingml/2006/main">
              <a:ext uri="{FF2B5EF4-FFF2-40B4-BE49-F238E27FC236}">
                <a16:creationId xmlns:a16="http://schemas.microsoft.com/office/drawing/2014/main" id="{1D5FFF79-C799-4AFA-B8F2-52D1ED77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667250" cy="232410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3DDC97"/>
            </a:solidFill>
            <a:prstDash val="solid"/>
          </a:ln>
        </p:spPr>
      </p:sp>
      <p:sp>
        <p:nvSpPr>
          <p:cNvPr id="8" name="on-title">
            <a:extLst xmlns:a="http://schemas.openxmlformats.org/drawingml/2006/main">
              <a:ext uri="{FF2B5EF4-FFF2-40B4-BE49-F238E27FC236}">
                <a16:creationId xmlns:a16="http://schemas.microsoft.com/office/drawing/2014/main" id="{85175CA6-8CD8-4FCC-8CCA-D1540F97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DC97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3DDC97"/>
                </a:solidFill>
                <a:latin typeface="Aptos Mono"/>
                <a:ea typeface="Aptos Mono"/>
                <a:cs typeface="Aptos Mono"/>
              </a:rPr>
              <a:t>AVAILABLE</a:t>
            </a:r>
          </a:p>
        </p:txBody>
      </p:sp>
      <p:sp>
        <p:nvSpPr>
          <p:cNvPr id="9" name="on-body">
            <a:extLst xmlns:a="http://schemas.openxmlformats.org/drawingml/2006/main">
              <a:ext uri="{FF2B5EF4-FFF2-40B4-BE49-F238E27FC236}">
                <a16:creationId xmlns:a16="http://schemas.microsoft.com/office/drawing/2014/main" id="{639F31F2-DBA5-40CA-BD7E-59369C43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Passive index aggregates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Approved researcher lab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Local owner-operated checks</a:t>
            </a:r>
          </a:p>
        </p:txBody>
      </p:sp>
      <p:sp>
        <p:nvSpPr>
          <p:cNvPr id="10" name="off-panel">
            <a:extLst xmlns:a="http://schemas.openxmlformats.org/drawingml/2006/main">
              <a:ext uri="{FF2B5EF4-FFF2-40B4-BE49-F238E27FC236}">
                <a16:creationId xmlns:a16="http://schemas.microsoft.com/office/drawing/2014/main" id="{9DF75A53-079B-44E4-9BFD-999218BA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667250" cy="232410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21826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1" name="off-title">
            <a:extLst xmlns:a="http://schemas.openxmlformats.org/drawingml/2006/main">
              <a:ext uri="{FF2B5EF4-FFF2-40B4-BE49-F238E27FC236}">
                <a16:creationId xmlns:a16="http://schemas.microsoft.com/office/drawing/2014/main" id="{74705564-C94A-483A-AD1E-5E998DEA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6B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FF6B6B"/>
                </a:solidFill>
                <a:latin typeface="Aptos Mono"/>
                <a:ea typeface="Aptos Mono"/>
                <a:cs typeface="Aptos Mono"/>
              </a:rPr>
              <a:t>SUSPENDED</a:t>
            </a:r>
          </a:p>
        </p:txBody>
      </p:sp>
      <p:sp>
        <p:nvSpPr>
          <p:cNvPr id="12" name="off-body">
            <a:extLst xmlns:a="http://schemas.openxmlformats.org/drawingml/2006/main">
              <a:ext uri="{FF2B5EF4-FFF2-40B4-BE49-F238E27FC236}">
                <a16:creationId xmlns:a16="http://schemas.microsoft.com/office/drawing/2014/main" id="{3000B3F0-0EEE-4023-ADEB-A9A76859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Scheduled active discovery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Hosted target checks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>
                <a:solidFill>
                  <a:srgbClr val="E8ECF4"/>
                </a:solidFill>
                <a:latin typeface="Aptos Mono"/>
                <a:ea typeface="Aptos Mono"/>
                <a:cs typeface="Aptos Mono"/>
              </a:defRPr>
            </a:pPr>
            <a:r>
              <a:rPr sz="1800">
                <a:solidFill>
                  <a:srgbClr val="E8ECF4"/>
                </a:solidFill>
                <a:latin typeface="Aptos Mono"/>
                <a:ea typeface="Aptos Mono"/>
                <a:cs typeface="Aptos Mono"/>
              </a:rPr>
              <a:t>Public override endpoints</a:t>
            </a:r>
          </a:p>
        </p:txBody>
      </p:sp>
      <p:sp>
        <p:nvSpPr>
          <p:cNvPr id="13" name="posture-url">
            <a:extLst xmlns:a="http://schemas.openxmlformats.org/drawingml/2006/main">
              <a:ext uri="{FF2B5EF4-FFF2-40B4-BE49-F238E27FC236}">
                <a16:creationId xmlns:a16="http://schemas.microsoft.com/office/drawing/2014/main" id="{3B3A2777-A4F6-42EA-9D89-26940B57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E1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5CE1FF"/>
                </a:solidFill>
                <a:latin typeface="Aptos Mono"/>
                <a:ea typeface="Aptos Mono"/>
                <a:cs typeface="Aptos Mono"/>
              </a:rPr>
              <a:t>leakycompute.mahdihedhli.com</a:t>
            </a:r>
          </a:p>
        </p:txBody>
      </p:sp>
    </p:spTree>
    <p:extLst>
      <p:ext uri="{BB962C8B-B14F-4D97-AF65-F5344CB8AC3E}">
        <p14:creationId xmlns:p14="http://schemas.microsoft.com/office/powerpoint/2010/main" val="465412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2026-08-26T19:37:49.3190000Z</dcterms:created>
  <dcterms:modified xsi:type="dcterms:W3CDTF">2026-08-26T19:37:49.3200000Z</dcterms:modified>
</coreProperties>
</file>